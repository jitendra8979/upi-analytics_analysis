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9" r:id="rId13"/>
    <p:sldId id="268" r:id="rId14"/>
    <p:sldId id="267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Failure Reason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F6B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1BA-4419-B597-9278DE63DCAB}"/>
              </c:ext>
            </c:extLst>
          </c:dPt>
          <c:dPt>
            <c:idx val="1"/>
            <c:bubble3D val="0"/>
            <c:spPr>
              <a:solidFill>
                <a:srgbClr val="F2A65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1BA-4419-B597-9278DE63DCAB}"/>
              </c:ext>
            </c:extLst>
          </c:dPt>
          <c:dPt>
            <c:idx val="2"/>
            <c:bubble3D val="0"/>
            <c:spPr>
              <a:solidFill>
                <a:srgbClr val="5C7A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1BA-4419-B597-9278DE63DCAB}"/>
              </c:ext>
            </c:extLst>
          </c:dPt>
          <c:dPt>
            <c:idx val="3"/>
            <c:bubble3D val="0"/>
            <c:spPr>
              <a:solidFill>
                <a:srgbClr val="4A5A8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1BA-4419-B597-9278DE63DCAB}"/>
              </c:ext>
            </c:extLst>
          </c:dPt>
          <c:dLbls>
            <c:dLbl>
              <c:idx val="0"/>
              <c:numFmt formatCode="0.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41B2D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1BA-4419-B597-9278DE63DCAB}"/>
                </c:ext>
              </c:extLst>
            </c:dLbl>
            <c:dLbl>
              <c:idx val="1"/>
              <c:numFmt formatCode="0.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41B2D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1BA-4419-B597-9278DE63DCAB}"/>
                </c:ext>
              </c:extLst>
            </c:dLbl>
            <c:dLbl>
              <c:idx val="2"/>
              <c:numFmt formatCode="0.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41B2D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1BA-4419-B597-9278DE63DCAB}"/>
                </c:ext>
              </c:extLst>
            </c:dLbl>
            <c:dLbl>
              <c:idx val="3"/>
              <c:numFmt formatCode="0.0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141B2D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61BA-4419-B597-9278DE63DCAB}"/>
                </c:ext>
              </c:extLst>
            </c:dLbl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Incorrect PIN</c:v>
                </c:pt>
                <c:pt idx="1">
                  <c:v>Network Error</c:v>
                </c:pt>
                <c:pt idx="2">
                  <c:v>Account Blocked</c:v>
                </c:pt>
                <c:pt idx="3">
                  <c:v>Bank Down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25.74</c:v>
                </c:pt>
                <c:pt idx="1">
                  <c:v>25.31</c:v>
                </c:pt>
                <c:pt idx="2">
                  <c:v>24.78</c:v>
                </c:pt>
                <c:pt idx="3">
                  <c:v>24.17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1BA-4419-B597-9278DE63DC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8C9A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4479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82741-A5CB-F931-4F91-D5218C1AE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BEBA26-A90B-AB43-66A8-05DD1B1223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CAF8E7-241B-090A-3F23-F701A9712F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B9E4E-31FD-1573-BCC9-2AB1B70E4B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31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61345-B0E3-9DA9-53E4-139ACC4D4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C65435-E9D7-C8B4-3C9F-3A555A65AA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966011-AE0D-93CC-B296-CCC31553C7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02547D-4A20-9217-4DF5-70B4AEC7FE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9774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9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8602826" y="365760"/>
            <a:ext cx="3291840" cy="3291840"/>
          </a:xfrm>
          <a:prstGeom prst="roundRect">
            <a:avLst>
              <a:gd name="adj" fmla="val 13889"/>
            </a:avLst>
          </a:prstGeom>
          <a:solidFill>
            <a:srgbClr val="1E2A44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60020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8B04B"/>
          </a:solidFill>
          <a:ln/>
        </p:spPr>
      </p:sp>
      <p:sp>
        <p:nvSpPr>
          <p:cNvPr id="6" name="Text 4"/>
          <p:cNvSpPr/>
          <p:nvPr/>
        </p:nvSpPr>
        <p:spPr>
          <a:xfrm>
            <a:off x="1115568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8B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ANALYTICS CAPSTONE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01168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3F5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UPI Transaction</a:t>
            </a:r>
            <a:endParaRPr lang="en-US" sz="4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3F5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Analytics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731520" y="37947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Understanding, KPI Framework &amp; Analytical Hypotheses for a Digital Payments Platform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31520" y="5074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04B"/>
                </a:solidFill>
                <a:latin typeface="Bookman Old Style" pitchFamily="34" charset="0"/>
              </a:rPr>
              <a:t>100,000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5440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54680" y="5120640"/>
            <a:ext cx="0" cy="502920"/>
          </a:xfrm>
          <a:prstGeom prst="line">
            <a:avLst/>
          </a:prstGeom>
          <a:noFill/>
          <a:ln w="12700">
            <a:solidFill>
              <a:srgbClr val="2631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806440" y="5120640"/>
            <a:ext cx="0" cy="502920"/>
          </a:xfrm>
          <a:prstGeom prst="line">
            <a:avLst/>
          </a:prstGeom>
          <a:noFill/>
          <a:ln w="12700">
            <a:solidFill>
              <a:srgbClr val="2631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50749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2.0%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35040" y="54406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Flagged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132777" y="5043196"/>
            <a:ext cx="0" cy="502920"/>
          </a:xfrm>
          <a:prstGeom prst="line">
            <a:avLst/>
          </a:prstGeom>
          <a:noFill/>
          <a:ln w="12700">
            <a:solidFill>
              <a:srgbClr val="26314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6172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by  </a:t>
            </a:r>
            <a:r>
              <a:rPr lang="en-US" sz="11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Jitendra </a:t>
            </a:r>
            <a:r>
              <a:rPr lang="en-US" sz="1150" b="1" dirty="0">
                <a:solidFill>
                  <a:srgbClr val="F3F5F9"/>
                </a:solidFill>
                <a:latin typeface="Arial" pitchFamily="34" charset="0"/>
                <a:cs typeface="Arial" pitchFamily="34" charset="-120"/>
              </a:rPr>
              <a:t>Kumar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125FEDE-041B-7DF9-5560-208D271803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7052">
            <a:off x="9241686" y="1061838"/>
            <a:ext cx="2182069" cy="1533926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D9D00C7B-75E4-48B2-D95E-2DE1EC168A87}"/>
              </a:ext>
            </a:extLst>
          </p:cNvPr>
          <p:cNvSpPr/>
          <p:nvPr/>
        </p:nvSpPr>
        <p:spPr>
          <a:xfrm>
            <a:off x="3278778" y="5043196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₹42.4L+</a:t>
            </a:r>
            <a:endParaRPr lang="en-US" sz="1700" dirty="0"/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59BF6D4D-62F0-007B-68B1-22AACACE8899}"/>
              </a:ext>
            </a:extLst>
          </p:cNvPr>
          <p:cNvSpPr/>
          <p:nvPr/>
        </p:nvSpPr>
        <p:spPr>
          <a:xfrm>
            <a:off x="3278778" y="5408956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Processed</a:t>
            </a:r>
            <a:endParaRPr lang="en-US" sz="950" dirty="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28AF46B5-C6A2-0BED-5A53-D572BF04130F}"/>
              </a:ext>
            </a:extLst>
          </p:cNvPr>
          <p:cNvSpPr/>
          <p:nvPr/>
        </p:nvSpPr>
        <p:spPr>
          <a:xfrm>
            <a:off x="8791302" y="5060924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5.87%</a:t>
            </a:r>
            <a:endParaRPr lang="en-US" sz="1700" dirty="0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A7199684-D0DE-CD05-D861-376195A2E0AB}"/>
              </a:ext>
            </a:extLst>
          </p:cNvPr>
          <p:cNvSpPr/>
          <p:nvPr/>
        </p:nvSpPr>
        <p:spPr>
          <a:xfrm>
            <a:off x="8791302" y="5426684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Rate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B0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B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5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We'll Cover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234440" y="1828800"/>
            <a:ext cx="0" cy="3749040"/>
          </a:xfrm>
          <a:prstGeom prst="line">
            <a:avLst/>
          </a:prstGeom>
          <a:noFill/>
          <a:ln w="19050">
            <a:solidFill>
              <a:srgbClr val="26314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8136" y="1682496"/>
            <a:ext cx="292608" cy="292608"/>
          </a:xfrm>
          <a:prstGeom prst="ellipse">
            <a:avLst/>
          </a:prstGeom>
          <a:solidFill>
            <a:srgbClr val="141B2D"/>
          </a:solidFill>
          <a:ln w="25400">
            <a:solidFill>
              <a:srgbClr val="E8B04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636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691640" y="154533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Foundation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126480" y="154533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7-table UPI transaction schema behind this analysis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088136" y="2432304"/>
            <a:ext cx="292608" cy="292608"/>
          </a:xfrm>
          <a:prstGeom prst="ellipse">
            <a:avLst/>
          </a:prstGeom>
          <a:solidFill>
            <a:srgbClr val="141B2D"/>
          </a:solidFill>
          <a:ln w="25400">
            <a:solidFill>
              <a:srgbClr val="E8B0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13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691640" y="2295144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Challenges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126480" y="2295144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digital payment platforms feel the most pain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1088136" y="3182112"/>
            <a:ext cx="292608" cy="292608"/>
          </a:xfrm>
          <a:prstGeom prst="ellipse">
            <a:avLst/>
          </a:prstGeom>
          <a:solidFill>
            <a:srgbClr val="141B2D"/>
          </a:solidFill>
          <a:ln w="25400">
            <a:solidFill>
              <a:srgbClr val="E8B0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91640" y="3044952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Goals &amp; KPIs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126480" y="3044952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 framework this project is built to serve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88136" y="3931920"/>
            <a:ext cx="292608" cy="292608"/>
          </a:xfrm>
          <a:prstGeom prst="ellipse">
            <a:avLst/>
          </a:prstGeom>
          <a:solidFill>
            <a:srgbClr val="141B2D"/>
          </a:solidFill>
          <a:ln w="25400">
            <a:solidFill>
              <a:srgbClr val="E8B0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130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379476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Assurance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126480" y="3794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dataset was validated before analysis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088136" y="4681728"/>
            <a:ext cx="292608" cy="292608"/>
          </a:xfrm>
          <a:prstGeom prst="ellipse">
            <a:avLst/>
          </a:prstGeom>
          <a:solidFill>
            <a:srgbClr val="141B2D"/>
          </a:solidFill>
          <a:ln w="25400">
            <a:solidFill>
              <a:srgbClr val="E8B0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5628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691640" y="4544568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 &amp; Statistical Testing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126480" y="4544568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suspected, and what the data confirmed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088136" y="5431536"/>
            <a:ext cx="292608" cy="292608"/>
          </a:xfrm>
          <a:prstGeom prst="ellipse">
            <a:avLst/>
          </a:prstGeom>
          <a:solidFill>
            <a:srgbClr val="141B2D"/>
          </a:solidFill>
          <a:ln w="25400">
            <a:solidFill>
              <a:srgbClr val="E8B04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531266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691640" y="5294376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Preview &amp; Next Steps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6126480" y="5294376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insight into an ongoing BI product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1064240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B0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B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FOUNDATION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5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 Seven-Table Transaction Schema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Customer, merchant, device and account records feed a central transaction fact table, which in turn drives fraud alerts and customer feedback — a 360° view of every UPI payment.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4480560" cy="3931920"/>
          </a:xfrm>
          <a:prstGeom prst="roundRect">
            <a:avLst>
              <a:gd name="adj" fmla="val 1860"/>
            </a:avLst>
          </a:prstGeom>
          <a:solidFill>
            <a:srgbClr val="F7F9FC"/>
          </a:solidFill>
          <a:ln w="12700">
            <a:solidFill>
              <a:srgbClr val="324061"/>
            </a:solidFill>
            <a:prstDash val="solid"/>
          </a:ln>
        </p:spPr>
      </p:sp>
      <p:pic>
        <p:nvPicPr>
          <p:cNvPr id="7" name="Image 0" descr="/mnt/user-data/uploads/er_diagram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1248" y="2542032"/>
            <a:ext cx="3895344" cy="360273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94960" y="1481328"/>
            <a:ext cx="6309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E8B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SCALE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394960" y="1901952"/>
            <a:ext cx="2971800" cy="841248"/>
          </a:xfrm>
          <a:prstGeom prst="roundRect">
            <a:avLst>
              <a:gd name="adj" fmla="val 7609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596128" y="1975104"/>
            <a:ext cx="2569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10,000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5596128" y="2414016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732520" y="1901952"/>
            <a:ext cx="2971800" cy="841248"/>
          </a:xfrm>
          <a:prstGeom prst="roundRect">
            <a:avLst>
              <a:gd name="adj" fmla="val 7609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33688" y="1975104"/>
            <a:ext cx="2569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500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8933688" y="2414016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394960" y="2889504"/>
            <a:ext cx="2971800" cy="841248"/>
          </a:xfrm>
          <a:prstGeom prst="roundRect">
            <a:avLst>
              <a:gd name="adj" fmla="val 7609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96128" y="2962656"/>
            <a:ext cx="2569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12,000</a:t>
            </a:r>
            <a:endParaRPr lang="en-US" sz="2300" dirty="0"/>
          </a:p>
        </p:txBody>
      </p:sp>
      <p:sp>
        <p:nvSpPr>
          <p:cNvPr id="17" name="Text 14"/>
          <p:cNvSpPr/>
          <p:nvPr/>
        </p:nvSpPr>
        <p:spPr>
          <a:xfrm>
            <a:off x="5596128" y="3401568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8732520" y="2889504"/>
            <a:ext cx="2971800" cy="841248"/>
          </a:xfrm>
          <a:prstGeom prst="roundRect">
            <a:avLst>
              <a:gd name="adj" fmla="val 7609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933688" y="2962656"/>
            <a:ext cx="2569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12,000</a:t>
            </a:r>
            <a:endParaRPr lang="en-US" sz="2300" dirty="0"/>
          </a:p>
        </p:txBody>
      </p:sp>
      <p:sp>
        <p:nvSpPr>
          <p:cNvPr id="20" name="Text 17"/>
          <p:cNvSpPr/>
          <p:nvPr/>
        </p:nvSpPr>
        <p:spPr>
          <a:xfrm>
            <a:off x="8933688" y="3401568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 Accounts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394960" y="3877056"/>
            <a:ext cx="2971800" cy="841248"/>
          </a:xfrm>
          <a:prstGeom prst="roundRect">
            <a:avLst>
              <a:gd name="adj" fmla="val 7609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596128" y="3950208"/>
            <a:ext cx="2569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100,000</a:t>
            </a:r>
            <a:endParaRPr lang="en-US" sz="2300" dirty="0"/>
          </a:p>
        </p:txBody>
      </p:sp>
      <p:sp>
        <p:nvSpPr>
          <p:cNvPr id="23" name="Text 20"/>
          <p:cNvSpPr/>
          <p:nvPr/>
        </p:nvSpPr>
        <p:spPr>
          <a:xfrm>
            <a:off x="5596128" y="4389120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8732520" y="3877056"/>
            <a:ext cx="2971800" cy="841248"/>
          </a:xfrm>
          <a:prstGeom prst="roundRect">
            <a:avLst>
              <a:gd name="adj" fmla="val 7609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933688" y="3950208"/>
            <a:ext cx="2569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2,000</a:t>
            </a:r>
            <a:endParaRPr lang="en-US" sz="2300" dirty="0"/>
          </a:p>
        </p:txBody>
      </p:sp>
      <p:sp>
        <p:nvSpPr>
          <p:cNvPr id="26" name="Text 23"/>
          <p:cNvSpPr/>
          <p:nvPr/>
        </p:nvSpPr>
        <p:spPr>
          <a:xfrm>
            <a:off x="8933688" y="4389120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Alerts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394960" y="4864608"/>
            <a:ext cx="2971800" cy="841248"/>
          </a:xfrm>
          <a:prstGeom prst="roundRect">
            <a:avLst>
              <a:gd name="adj" fmla="val 7609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96128" y="4937760"/>
            <a:ext cx="25694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4,000</a:t>
            </a:r>
            <a:endParaRPr lang="en-US" sz="2300" dirty="0"/>
          </a:p>
        </p:txBody>
      </p:sp>
      <p:sp>
        <p:nvSpPr>
          <p:cNvPr id="29" name="Text 26"/>
          <p:cNvSpPr/>
          <p:nvPr/>
        </p:nvSpPr>
        <p:spPr>
          <a:xfrm>
            <a:off x="5596128" y="5376672"/>
            <a:ext cx="2569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Records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11064240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B0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B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CONTEXT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5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Challenges Facing the UPI Platform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11480" y="1307592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6B5A3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6200" dirty="0"/>
          </a:p>
        </p:txBody>
      </p:sp>
      <p:sp>
        <p:nvSpPr>
          <p:cNvPr id="8" name="Text 5"/>
          <p:cNvSpPr/>
          <p:nvPr/>
        </p:nvSpPr>
        <p:spPr>
          <a:xfrm>
            <a:off x="1965960" y="1508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Risk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965960" y="183794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 of transactions are already flagged — exposure grows with scale and device sophistication.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172200" y="1307592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6B5A3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6200" dirty="0"/>
          </a:p>
        </p:txBody>
      </p:sp>
      <p:sp>
        <p:nvSpPr>
          <p:cNvPr id="13" name="Text 9"/>
          <p:cNvSpPr/>
          <p:nvPr/>
        </p:nvSpPr>
        <p:spPr>
          <a:xfrm>
            <a:off x="7726680" y="15087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Failures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7726680" y="1837944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5.87% of transactions fail, spread evenly across PIN, network, bank and account causes.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411480" y="288036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6B5A3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6200" dirty="0"/>
          </a:p>
        </p:txBody>
      </p:sp>
      <p:sp>
        <p:nvSpPr>
          <p:cNvPr id="18" name="Text 13"/>
          <p:cNvSpPr/>
          <p:nvPr/>
        </p:nvSpPr>
        <p:spPr>
          <a:xfrm>
            <a:off x="1965960" y="30815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Retention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965960" y="341071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4,000+ feedback records signal where satisfaction — and churn risk — concentrates.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6172200" y="2880360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6B5A3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04</a:t>
            </a:r>
            <a:endParaRPr lang="en-US" sz="6200" dirty="0"/>
          </a:p>
        </p:txBody>
      </p:sp>
      <p:sp>
        <p:nvSpPr>
          <p:cNvPr id="23" name="Text 17"/>
          <p:cNvSpPr/>
          <p:nvPr/>
        </p:nvSpPr>
        <p:spPr>
          <a:xfrm>
            <a:off x="7726680" y="3081528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Engagement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7726680" y="3410712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merchants vary widely in volume; activity concentrates in a small top tier.</a:t>
            </a: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411480" y="4453128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6B5A3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05</a:t>
            </a:r>
            <a:endParaRPr lang="en-US" sz="6200" dirty="0"/>
          </a:p>
        </p:txBody>
      </p:sp>
      <p:sp>
        <p:nvSpPr>
          <p:cNvPr id="28" name="Text 21"/>
          <p:cNvSpPr/>
          <p:nvPr/>
        </p:nvSpPr>
        <p:spPr>
          <a:xfrm>
            <a:off x="1965960" y="46542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&amp; Channel Risk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965960" y="49834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 devices across Android/iOS and multiple channels carry uneven risk.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172200" y="4453128"/>
            <a:ext cx="1463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6B5A3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06</a:t>
            </a:r>
            <a:endParaRPr lang="en-US" sz="6200" dirty="0"/>
          </a:p>
        </p:txBody>
      </p:sp>
      <p:sp>
        <p:nvSpPr>
          <p:cNvPr id="33" name="Text 25"/>
          <p:cNvSpPr/>
          <p:nvPr/>
        </p:nvSpPr>
        <p:spPr>
          <a:xfrm>
            <a:off x="7726680" y="46542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Compliance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7726680" y="498348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fraud logs and audit-ready data are essential for RBI/NPCI reporting.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548640" y="2953512"/>
            <a:ext cx="11064240" cy="0"/>
          </a:xfrm>
          <a:prstGeom prst="line">
            <a:avLst/>
          </a:prstGeom>
          <a:noFill/>
          <a:ln w="12700">
            <a:solidFill>
              <a:srgbClr val="26314D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548640" y="4526280"/>
            <a:ext cx="11064240" cy="0"/>
          </a:xfrm>
          <a:prstGeom prst="line">
            <a:avLst/>
          </a:prstGeom>
          <a:noFill/>
          <a:ln w="12700">
            <a:solidFill>
              <a:srgbClr val="26314D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11064240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B0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B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PERSPECTIVE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5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Analytical Goals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E8B04B"/>
          </a:solidFill>
          <a:ln/>
        </p:spPr>
      </p:sp>
      <p:pic>
        <p:nvPicPr>
          <p:cNvPr id="6" name="Image 0" descr="/home/claude/icons_goal_visibil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1715414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45336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Visibility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623560" y="1545336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Give stakeholders a live read on transaction volume, value and success rate.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359152"/>
            <a:ext cx="11155680" cy="0"/>
          </a:xfrm>
          <a:prstGeom prst="line">
            <a:avLst/>
          </a:prstGeom>
          <a:noFill/>
          <a:ln w="12700">
            <a:solidFill>
              <a:srgbClr val="2631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48716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E8B04B"/>
          </a:solidFill>
          <a:ln/>
        </p:spPr>
      </p:sp>
      <p:pic>
        <p:nvPicPr>
          <p:cNvPr id="11" name="Image 1" descr="/home/claude/icons_goal_dete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262981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25880" y="2459736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Proactive Fraud Detection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5623560" y="2459736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 fraud patterns by device, channel and merchant before losses scale.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273552"/>
            <a:ext cx="11155680" cy="0"/>
          </a:xfrm>
          <a:prstGeom prst="line">
            <a:avLst/>
          </a:prstGeom>
          <a:noFill/>
          <a:ln w="12700">
            <a:solidFill>
              <a:srgbClr val="26314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48640" y="340156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E8B04B"/>
          </a:solidFill>
          <a:ln/>
        </p:spPr>
      </p:sp>
      <p:pic>
        <p:nvPicPr>
          <p:cNvPr id="16" name="Image 2" descr="/home/claude/icons_goal_diagno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354421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374136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Diagnosis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5623560" y="3374136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down failed transactions by reason, hour and device to guide fixes.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187952"/>
            <a:ext cx="11155680" cy="0"/>
          </a:xfrm>
          <a:prstGeom prst="line">
            <a:avLst/>
          </a:prstGeom>
          <a:noFill/>
          <a:ln w="12700">
            <a:solidFill>
              <a:srgbClr val="26314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48640" y="431596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E8B04B"/>
          </a:solidFill>
          <a:ln/>
        </p:spPr>
      </p:sp>
      <p:pic>
        <p:nvPicPr>
          <p:cNvPr id="21" name="Image 3" descr="/home/claude/icons_goal_segmen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" y="4458614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25880" y="4288536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&amp; Merchant Segmentation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623560" y="4288536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high-value, high-risk and at-risk segments for targeted action.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102352"/>
            <a:ext cx="11155680" cy="0"/>
          </a:xfrm>
          <a:prstGeom prst="line">
            <a:avLst/>
          </a:prstGeom>
          <a:noFill/>
          <a:ln w="12700">
            <a:solidFill>
              <a:srgbClr val="26314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48640" y="5230368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E8B04B"/>
          </a:solidFill>
          <a:ln/>
        </p:spPr>
      </p:sp>
      <p:pic>
        <p:nvPicPr>
          <p:cNvPr id="26" name="Image 4" descr="/home/claude/icons_goal_repo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286" y="5373014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5202936"/>
            <a:ext cx="4206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Compliance-Ready Reporting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5623560" y="5202936"/>
            <a:ext cx="60350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 a validated, audit-ready data layer for regulatory reporting.</a:t>
            </a:r>
            <a:endParaRPr lang="en-US" sz="1150" dirty="0"/>
          </a:p>
        </p:txBody>
      </p:sp>
      <p:sp>
        <p:nvSpPr>
          <p:cNvPr id="30" name="Text 23"/>
          <p:cNvSpPr/>
          <p:nvPr/>
        </p:nvSpPr>
        <p:spPr>
          <a:xfrm>
            <a:off x="11064240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B0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B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FRAMEWORK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5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Core KPIs — Current Baseline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79222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41B2D"/>
          </a:solidFill>
          <a:ln/>
        </p:spPr>
      </p:sp>
      <p:pic>
        <p:nvPicPr>
          <p:cNvPr id="7" name="Image 0" descr="/home/claude/icons_kpi_volu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911096"/>
            <a:ext cx="219456" cy="21945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9164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Volume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772400" y="169164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100,000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548640" y="2478024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13232" y="257860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41B2D"/>
          </a:solidFill>
          <a:ln/>
        </p:spPr>
      </p:sp>
      <p:pic>
        <p:nvPicPr>
          <p:cNvPr id="12" name="Image 1" descr="/home/claude/icons_kpi_amou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" y="2697480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71600" y="2478024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Processed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7772400" y="2478024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₹42.4L+</a:t>
            </a:r>
            <a:endParaRPr lang="en-US" sz="2200" dirty="0"/>
          </a:p>
        </p:txBody>
      </p:sp>
      <p:sp>
        <p:nvSpPr>
          <p:cNvPr id="15" name="Shape 11"/>
          <p:cNvSpPr/>
          <p:nvPr/>
        </p:nvSpPr>
        <p:spPr>
          <a:xfrm>
            <a:off x="548640" y="3264408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3232" y="336499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41B2D"/>
          </a:solidFill>
          <a:ln/>
        </p:spPr>
      </p:sp>
      <p:pic>
        <p:nvPicPr>
          <p:cNvPr id="17" name="Image 2" descr="/home/claude/icons_merchan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3483864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71600" y="3264408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Merchants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7772400" y="3264408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500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548640" y="4050792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713232" y="41513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41B2D"/>
          </a:solidFill>
          <a:ln/>
        </p:spPr>
      </p:sp>
      <p:pic>
        <p:nvPicPr>
          <p:cNvPr id="22" name="Image 3" descr="/home/claude/icons_fail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2104" y="4270248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71600" y="4050792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Rate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7772400" y="4050792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6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5.87%</a:t>
            </a:r>
            <a:endParaRPr lang="en-US" sz="2200" dirty="0"/>
          </a:p>
        </p:txBody>
      </p:sp>
      <p:sp>
        <p:nvSpPr>
          <p:cNvPr id="25" name="Shape 19"/>
          <p:cNvSpPr/>
          <p:nvPr/>
        </p:nvSpPr>
        <p:spPr>
          <a:xfrm>
            <a:off x="548640" y="4837176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713232" y="493776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41B2D"/>
          </a:solidFill>
          <a:ln/>
        </p:spPr>
      </p:sp>
      <p:pic>
        <p:nvPicPr>
          <p:cNvPr id="27" name="Image 4" descr="/home/claude/icons_frau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2104" y="5056632"/>
            <a:ext cx="219456" cy="21945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371600" y="4837176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Flag Rate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7772400" y="4837176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6B6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2.0%</a:t>
            </a:r>
            <a:endParaRPr lang="en-US" sz="2200" dirty="0"/>
          </a:p>
        </p:txBody>
      </p:sp>
      <p:sp>
        <p:nvSpPr>
          <p:cNvPr id="30" name="Shape 23"/>
          <p:cNvSpPr/>
          <p:nvPr/>
        </p:nvSpPr>
        <p:spPr>
          <a:xfrm>
            <a:off x="548640" y="56235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713232" y="572414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141B2D"/>
          </a:solidFill>
          <a:ln/>
        </p:spPr>
      </p:sp>
      <p:pic>
        <p:nvPicPr>
          <p:cNvPr id="32" name="Image 5" descr="/home/claude/icons_devic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104" y="5843016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371600" y="5623560"/>
            <a:ext cx="3657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Devices Tracked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7772400" y="5623560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12,000</a:t>
            </a:r>
            <a:endParaRPr lang="en-US" sz="2200" dirty="0"/>
          </a:p>
        </p:txBody>
      </p:sp>
      <p:sp>
        <p:nvSpPr>
          <p:cNvPr id="36" name="Text 28"/>
          <p:cNvSpPr/>
          <p:nvPr/>
        </p:nvSpPr>
        <p:spPr>
          <a:xfrm>
            <a:off x="11064240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B0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B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5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Built on a Validated Dataset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analysis, every table passed a structured QA pass — format standardization, duplicate checks, foreign-key validation and category cleanup — logged row by row.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3520440"/>
        </p:xfrm>
        <a:graphic>
          <a:graphicData uri="http://schemas.openxmlformats.org/drawingml/2006/table">
            <a:tbl>
              <a:tblPr/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Check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0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0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key duplicate checks (all 7 tables)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duplicates found — all keys valid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Foreign key validation (all relationships)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 match — 0 orphaned records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Date / datetime format standardization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Normalized to a single format across all tables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 number length validation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969 of 10,000 records (9.69%) flagged for review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 standardization (e.g. Gender)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Variants merged into standard labels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Numeric / boolean range checks (risk score, amount, flags)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 values within valid 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5"/>
          <p:cNvSpPr/>
          <p:nvPr/>
        </p:nvSpPr>
        <p:spPr>
          <a:xfrm>
            <a:off x="11064240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B0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B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 THE ANALYSIS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5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Hypotheses Formulated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6367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B04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6367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63040" y="1508760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type (Android vs. iOS) influences average transaction amount.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350008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47802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B04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4780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63040" y="2350008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channel affects the average value of a transaction.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91256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31927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B04B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319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63040" y="3191256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Device type is associated with transaction status (Success / Failed / Pending).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032504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1605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B04B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160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63040" y="4032504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Higher transaction amounts correlate with higher fraud likelihood.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873752"/>
            <a:ext cx="11064240" cy="713232"/>
          </a:xfrm>
          <a:prstGeom prst="roundRect">
            <a:avLst>
              <a:gd name="adj" fmla="val 8974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00176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8B04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50017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1B2D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H5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63040" y="4873752"/>
            <a:ext cx="9966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Rooted or higher-risk devices are associated with elevated fraud rates.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064240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B0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B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TESTING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5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Hypotheses Validation</a:t>
            </a:r>
            <a:endParaRPr lang="en-US" sz="2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251460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14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Test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0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Comparison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0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Statistic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0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p-value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0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4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Result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B0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Independent t-test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Amount: Android vs. iOS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 = -0.54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significant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Chi-square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Device type vs. status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χ² = 5.93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0.431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significant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One-way ANOVA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 across channels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 = 0.55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0.576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significant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1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Pearson correlation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Amount vs. fraud flag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 = -0.0003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3F5F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0.936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correlation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2406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89120"/>
            <a:ext cx="11064240" cy="1691640"/>
          </a:xfrm>
          <a:prstGeom prst="roundRect">
            <a:avLst>
              <a:gd name="adj" fmla="val 4324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461772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E8B04B"/>
          </a:solidFill>
          <a:ln/>
        </p:spPr>
      </p:sp>
      <p:pic>
        <p:nvPicPr>
          <p:cNvPr id="8" name="Image 0" descr="/home/claude/icons_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4760366"/>
            <a:ext cx="263347" cy="26334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461772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B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the Result</a:t>
            </a:r>
            <a:endParaRPr lang="en-US" sz="1350" dirty="0"/>
          </a:p>
        </p:txBody>
      </p:sp>
      <p:sp>
        <p:nvSpPr>
          <p:cNvPr id="5" name="Text 6"/>
          <p:cNvSpPr/>
          <p:nvPr/>
        </p:nvSpPr>
        <p:spPr>
          <a:xfrm>
            <a:off x="1554480" y="4937760"/>
            <a:ext cx="969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the tested factors (device OS, channel, amount) show a statistically significant link to transaction status or fraud on their own (all p &gt; 0.05). This suggests fraud and failure risk are driven by combinations of factors — device integrity (rooted status), region and behavioral patterns — rather than any single variable, pointing the next phase toward multivariate and device-risk-specific modeling.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1064240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B0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B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5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Insights from the Data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E8B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FAILED-TRANSACTION REASONS</a:t>
            </a:r>
            <a:endParaRPr lang="en-US" sz="11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1783080"/>
          <a:ext cx="51206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53949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Near-even split across all four causes — signals a systemic issue, not one isolated root cause.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35040" y="1783080"/>
            <a:ext cx="5577840" cy="896112"/>
          </a:xfrm>
          <a:prstGeom prst="roundRect">
            <a:avLst>
              <a:gd name="adj" fmla="val 7143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1856232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92.14%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366760" y="1856232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transactions succeed — 5.87% fail, 1.99% remain pending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035040" y="2807208"/>
            <a:ext cx="5577840" cy="896112"/>
          </a:xfrm>
          <a:prstGeom prst="roundRect">
            <a:avLst>
              <a:gd name="adj" fmla="val 7143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2880360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7–8 AM, 1–3 PM &amp; 8 PM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366760" y="2880360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the busiest transaction hours of the day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3831336"/>
            <a:ext cx="5577840" cy="896112"/>
          </a:xfrm>
          <a:prstGeom prst="roundRect">
            <a:avLst>
              <a:gd name="adj" fmla="val 7143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217920" y="3904488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2.0%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366760" y="3904488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all transactions (2,000 of 100,000) are fraud-flagged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35040" y="4855464"/>
            <a:ext cx="5577840" cy="896112"/>
          </a:xfrm>
          <a:prstGeom prst="roundRect">
            <a:avLst>
              <a:gd name="adj" fmla="val 7143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217920" y="4928616"/>
            <a:ext cx="2103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B04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₹42.4L+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366760" y="4928616"/>
            <a:ext cx="3108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total transaction value processed in the dataset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1064240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56032" cy="256032"/>
          </a:xfrm>
          <a:prstGeom prst="roundRect">
            <a:avLst>
              <a:gd name="adj" fmla="val 17857"/>
            </a:avLst>
          </a:prstGeom>
          <a:solidFill>
            <a:srgbClr val="E8B04B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02336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200" dirty="0">
                <a:solidFill>
                  <a:srgbClr val="E8B0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 DELIVERABLE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5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Dashboard Preview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E8B04B"/>
          </a:solidFill>
          <a:ln/>
        </p:spPr>
      </p:sp>
      <p:pic>
        <p:nvPicPr>
          <p:cNvPr id="7" name="Image 0" descr="/home/claude/icons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97144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288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22960" y="2660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B04B"/>
          </a:solidFill>
          <a:ln/>
        </p:spPr>
      </p:sp>
      <p:sp>
        <p:nvSpPr>
          <p:cNvPr id="10" name="Text 7"/>
          <p:cNvSpPr/>
          <p:nvPr/>
        </p:nvSpPr>
        <p:spPr>
          <a:xfrm>
            <a:off x="1078992" y="2514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by month — trend line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22960" y="313639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B04B"/>
          </a:solidFill>
          <a:ln/>
        </p:spPr>
      </p:sp>
      <p:sp>
        <p:nvSpPr>
          <p:cNvPr id="12" name="Text 9"/>
          <p:cNvSpPr/>
          <p:nvPr/>
        </p:nvSpPr>
        <p:spPr>
          <a:xfrm>
            <a:off x="1078992" y="299008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type — donut split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22960" y="361188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B04B"/>
          </a:solidFill>
          <a:ln/>
        </p:spPr>
      </p:sp>
      <p:sp>
        <p:nvSpPr>
          <p:cNvPr id="14" name="Text 11"/>
          <p:cNvSpPr/>
          <p:nvPr/>
        </p:nvSpPr>
        <p:spPr>
          <a:xfrm>
            <a:off x="1078992" y="346557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Transactions by device type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22960" y="40873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B04B"/>
          </a:solidFill>
          <a:ln/>
        </p:spPr>
      </p:sp>
      <p:sp>
        <p:nvSpPr>
          <p:cNvPr id="16" name="Text 13"/>
          <p:cNvSpPr/>
          <p:nvPr/>
        </p:nvSpPr>
        <p:spPr>
          <a:xfrm>
            <a:off x="1078992" y="394106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transactions by region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22960" y="456285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B04B"/>
          </a:solidFill>
          <a:ln/>
        </p:spPr>
      </p:sp>
      <p:sp>
        <p:nvSpPr>
          <p:cNvPr id="18" name="Text 15"/>
          <p:cNvSpPr/>
          <p:nvPr/>
        </p:nvSpPr>
        <p:spPr>
          <a:xfrm>
            <a:off x="1078992" y="441655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transactions by merchant type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6172200" y="1600200"/>
            <a:ext cx="5440680" cy="4480560"/>
          </a:xfrm>
          <a:prstGeom prst="roundRect">
            <a:avLst>
              <a:gd name="adj" fmla="val 1633"/>
            </a:avLst>
          </a:prstGeom>
          <a:solidFill>
            <a:srgbClr val="1E2A44"/>
          </a:solidFill>
          <a:ln w="12700">
            <a:solidFill>
              <a:srgbClr val="32406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446520" y="1828800"/>
            <a:ext cx="548640" cy="548640"/>
          </a:xfrm>
          <a:prstGeom prst="roundRect">
            <a:avLst>
              <a:gd name="adj" fmla="val 18000"/>
            </a:avLst>
          </a:prstGeom>
          <a:solidFill>
            <a:srgbClr val="E8B04B"/>
          </a:solidFill>
          <a:ln/>
        </p:spPr>
      </p:sp>
      <p:pic>
        <p:nvPicPr>
          <p:cNvPr id="21" name="Image 1" descr="/home/claude/icons_fra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9166" y="1971446"/>
            <a:ext cx="263347" cy="26334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7132320" y="182880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Analyst Dashboard</a:t>
            </a:r>
            <a:endParaRPr lang="en-US" sz="1550" dirty="0"/>
          </a:p>
        </p:txBody>
      </p:sp>
      <p:sp>
        <p:nvSpPr>
          <p:cNvPr id="23" name="Shape 19"/>
          <p:cNvSpPr/>
          <p:nvPr/>
        </p:nvSpPr>
        <p:spPr>
          <a:xfrm>
            <a:off x="6446520" y="2660904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B04B"/>
          </a:solidFill>
          <a:ln/>
        </p:spPr>
      </p:sp>
      <p:sp>
        <p:nvSpPr>
          <p:cNvPr id="24" name="Text 20"/>
          <p:cNvSpPr/>
          <p:nvPr/>
        </p:nvSpPr>
        <p:spPr>
          <a:xfrm>
            <a:off x="6702552" y="2514600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 volume by month — trend line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446520" y="3136392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B04B"/>
          </a:solidFill>
          <a:ln/>
        </p:spPr>
      </p:sp>
      <p:sp>
        <p:nvSpPr>
          <p:cNvPr id="26" name="Text 22"/>
          <p:cNvSpPr/>
          <p:nvPr/>
        </p:nvSpPr>
        <p:spPr>
          <a:xfrm>
            <a:off x="6702552" y="2990088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rate per year</a:t>
            </a:r>
            <a:endParaRPr lang="en-US" sz="1150" dirty="0"/>
          </a:p>
        </p:txBody>
      </p:sp>
      <p:sp>
        <p:nvSpPr>
          <p:cNvPr id="27" name="Shape 23"/>
          <p:cNvSpPr/>
          <p:nvPr/>
        </p:nvSpPr>
        <p:spPr>
          <a:xfrm>
            <a:off x="6446520" y="3611880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B04B"/>
          </a:solidFill>
          <a:ln/>
        </p:spPr>
      </p:sp>
      <p:sp>
        <p:nvSpPr>
          <p:cNvPr id="28" name="Text 24"/>
          <p:cNvSpPr/>
          <p:nvPr/>
        </p:nvSpPr>
        <p:spPr>
          <a:xfrm>
            <a:off x="6702552" y="3465576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Transaction failure reasons — treemap</a:t>
            </a:r>
            <a:endParaRPr lang="en-US" sz="1150" dirty="0"/>
          </a:p>
        </p:txBody>
      </p:sp>
      <p:sp>
        <p:nvSpPr>
          <p:cNvPr id="29" name="Shape 25"/>
          <p:cNvSpPr/>
          <p:nvPr/>
        </p:nvSpPr>
        <p:spPr>
          <a:xfrm>
            <a:off x="6446520" y="4087368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B04B"/>
          </a:solidFill>
          <a:ln/>
        </p:spPr>
      </p:sp>
      <p:sp>
        <p:nvSpPr>
          <p:cNvPr id="30" name="Text 26"/>
          <p:cNvSpPr/>
          <p:nvPr/>
        </p:nvSpPr>
        <p:spPr>
          <a:xfrm>
            <a:off x="6702552" y="3941064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alert detail table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446520" y="4562856"/>
            <a:ext cx="128016" cy="128016"/>
          </a:xfrm>
          <a:prstGeom prst="roundRect">
            <a:avLst>
              <a:gd name="adj" fmla="val 21429"/>
            </a:avLst>
          </a:prstGeom>
          <a:solidFill>
            <a:srgbClr val="E8B04B"/>
          </a:solidFill>
          <a:ln/>
        </p:spPr>
      </p:sp>
      <p:sp>
        <p:nvSpPr>
          <p:cNvPr id="32" name="Text 28"/>
          <p:cNvSpPr/>
          <p:nvPr/>
        </p:nvSpPr>
        <p:spPr>
          <a:xfrm>
            <a:off x="6702552" y="4416552"/>
            <a:ext cx="4663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filters by device &amp; region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11064240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2824A8-6521-441C-D6E0-E9B7F85F8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DD75CFB3-9688-1712-1B1F-D908EEDB9194}"/>
              </a:ext>
            </a:extLst>
          </p:cNvPr>
          <p:cNvSpPr/>
          <p:nvPr/>
        </p:nvSpPr>
        <p:spPr>
          <a:xfrm>
            <a:off x="0" y="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5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Dashboard</a:t>
            </a:r>
            <a:endParaRPr lang="en-US" sz="290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B94E7981-2313-0598-E17B-DC3C1FF9D57F}"/>
              </a:ext>
            </a:extLst>
          </p:cNvPr>
          <p:cNvSpPr/>
          <p:nvPr/>
        </p:nvSpPr>
        <p:spPr>
          <a:xfrm>
            <a:off x="11064240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85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60A0B99-C0AF-CF8C-3E97-46CC459ED4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415" y="587829"/>
            <a:ext cx="11912720" cy="620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44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1101B2-3144-94A5-FE03-F3803E92D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>
            <a:extLst>
              <a:ext uri="{FF2B5EF4-FFF2-40B4-BE49-F238E27FC236}">
                <a16:creationId xmlns:a16="http://schemas.microsoft.com/office/drawing/2014/main" id="{2482210C-96AD-72AB-8E24-C1916828206A}"/>
              </a:ext>
            </a:extLst>
          </p:cNvPr>
          <p:cNvSpPr/>
          <p:nvPr/>
        </p:nvSpPr>
        <p:spPr>
          <a:xfrm>
            <a:off x="0" y="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5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Dashboard</a:t>
            </a:r>
            <a:endParaRPr lang="en-US" sz="290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DE6013D0-4D35-36CC-71E8-78DDBA6A311E}"/>
              </a:ext>
            </a:extLst>
          </p:cNvPr>
          <p:cNvSpPr/>
          <p:nvPr/>
        </p:nvSpPr>
        <p:spPr>
          <a:xfrm>
            <a:off x="11064240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85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A77B17B5-1DCA-BEBC-DAC0-6218AC010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38" y="486981"/>
            <a:ext cx="11961473" cy="623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083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278053" y="128016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700" b="1" dirty="0">
              <a:solidFill>
                <a:srgbClr val="F3F5F9"/>
              </a:solidFill>
              <a:latin typeface="Bookman Old Style" pitchFamily="34" charset="0"/>
              <a:ea typeface="Bookman Old Style" pitchFamily="34" charset="-122"/>
              <a:cs typeface="Bookman Old Style" pitchFamily="34" charset="-120"/>
            </a:endParaRPr>
          </a:p>
          <a:p>
            <a:pPr marL="0" indent="0">
              <a:buNone/>
            </a:pPr>
            <a:r>
              <a:rPr lang="en-US" sz="2700" b="1" dirty="0">
                <a:solidFill>
                  <a:srgbClr val="F3F5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Insight to Ongoing BI Product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1014983"/>
            <a:ext cx="493776" cy="493776"/>
          </a:xfrm>
          <a:prstGeom prst="roundRect">
            <a:avLst>
              <a:gd name="adj" fmla="val 18000"/>
            </a:avLst>
          </a:prstGeom>
          <a:solidFill>
            <a:srgbClr val="1E2A44"/>
          </a:solidFill>
          <a:ln/>
        </p:spPr>
      </p:sp>
      <p:pic>
        <p:nvPicPr>
          <p:cNvPr id="7" name="Image 0" descr="/home/claude/icons_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022" y="1129182"/>
            <a:ext cx="237012" cy="237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34440" y="996695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Deepen the device-risk hypothesis using rooted-device flags against fraud </a:t>
            </a:r>
            <a:r>
              <a:rPr lang="en-US" sz="1250" dirty="0" err="1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1764791"/>
            <a:ext cx="493776" cy="493776"/>
          </a:xfrm>
          <a:prstGeom prst="roundRect">
            <a:avLst>
              <a:gd name="adj" fmla="val 18000"/>
            </a:avLst>
          </a:prstGeom>
          <a:solidFill>
            <a:srgbClr val="1E2A44"/>
          </a:solidFill>
          <a:ln/>
        </p:spPr>
      </p:sp>
      <p:pic>
        <p:nvPicPr>
          <p:cNvPr id="10" name="Image 1" descr="/home/claude/icons_flas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022" y="1893173"/>
            <a:ext cx="237012" cy="23701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1746503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from single-factor tests to a multivariate fraud-risk model.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548640" y="2514599"/>
            <a:ext cx="493776" cy="493776"/>
          </a:xfrm>
          <a:prstGeom prst="roundRect">
            <a:avLst>
              <a:gd name="adj" fmla="val 18000"/>
            </a:avLst>
          </a:prstGeom>
          <a:solidFill>
            <a:srgbClr val="1E2A44"/>
          </a:solidFill>
          <a:ln/>
        </p:spPr>
      </p:sp>
      <p:pic>
        <p:nvPicPr>
          <p:cNvPr id="13" name="Image 2" descr="/home/claude/icons_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022" y="2642981"/>
            <a:ext cx="237012" cy="23701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2496311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 the data-quality log so validation runs with every new data refresh.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3264407"/>
            <a:ext cx="493776" cy="493776"/>
          </a:xfrm>
          <a:prstGeom prst="roundRect">
            <a:avLst>
              <a:gd name="adj" fmla="val 18000"/>
            </a:avLst>
          </a:prstGeom>
          <a:solidFill>
            <a:srgbClr val="1E2A44"/>
          </a:solidFill>
          <a:ln/>
        </p:spPr>
      </p:sp>
      <p:pic>
        <p:nvPicPr>
          <p:cNvPr id="16" name="Image 3" descr="/home/claude/icons_das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022" y="3392789"/>
            <a:ext cx="237012" cy="2370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234440" y="3246119"/>
            <a:ext cx="7680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3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Operationalize the Executive and Fraud Analyst dashboards for weekly review.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36672" y="4497355"/>
            <a:ext cx="7955280" cy="0"/>
          </a:xfrm>
          <a:prstGeom prst="line">
            <a:avLst/>
          </a:prstGeom>
          <a:noFill/>
          <a:ln w="12700">
            <a:solidFill>
              <a:srgbClr val="26314D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48640" y="5257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3F5F9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2900" dirty="0"/>
          </a:p>
        </p:txBody>
      </p:sp>
      <p:sp>
        <p:nvSpPr>
          <p:cNvPr id="22" name="Text 16"/>
          <p:cNvSpPr/>
          <p:nvPr/>
        </p:nvSpPr>
        <p:spPr>
          <a:xfrm>
            <a:off x="11064240" y="651967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C9A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983</Words>
  <Application>Microsoft Office PowerPoint</Application>
  <PresentationFormat>Widescreen</PresentationFormat>
  <Paragraphs>221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Bookman Old Style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Puneet Kashyap</cp:lastModifiedBy>
  <cp:revision>3</cp:revision>
  <dcterms:created xsi:type="dcterms:W3CDTF">2026-09-14T08:01:47Z</dcterms:created>
  <dcterms:modified xsi:type="dcterms:W3CDTF">2026-09-15T10:30:26Z</dcterms:modified>
</cp:coreProperties>
</file>